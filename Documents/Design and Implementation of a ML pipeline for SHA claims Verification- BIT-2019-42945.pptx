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 (Baseline)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AUC-ROC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</c:v>
                </c:pt>
                <c:pt idx="1">
                  <c:v>0.71</c:v>
                </c:pt>
                <c:pt idx="2">
                  <c:v>0.68</c:v>
                </c:pt>
                <c:pt idx="3">
                  <c:v>0.69</c:v>
                </c:pt>
                <c:pt idx="4">
                  <c:v>0.85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 (Tuned)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2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AUC-ROC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0.96</c:v>
                </c:pt>
                <c:pt idx="1">
                  <c:v>0.88</c:v>
                </c:pt>
                <c:pt idx="2">
                  <c:v>0.91</c:v>
                </c:pt>
                <c:pt idx="3">
                  <c:v>0.89</c:v>
                </c:pt>
                <c:pt idx="4">
                  <c:v>0.97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1A22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5120640"/>
            <a:ext cx="3657600" cy="3657600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KENYA UNIVERSITY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418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and Informatics  •  Department of Information 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784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Evaluation of a Machine Learning Pipeline for Health Insurance Claims Verification in Kenya’s Social Health Authority (SHA)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Defense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Elvis Paul Sichemo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BIT/2019/42945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Bernard Chogi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921240" y="5029200"/>
            <a:ext cx="1417320" cy="141732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9665" y="5227625"/>
            <a:ext cx="1020470" cy="10204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 —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 replaced NHIF in 2023 under the Social Health Insurance Act (No. 16 of 2023)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thousands of claims daily across all facility levels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slow verification &amp; delayed reimbursement have persisted through the transition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9136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14–90 DAYS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407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reimbursement window — routinely exceeded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89320" y="1755648"/>
            <a:ext cx="5623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anomaly detection — rule checks miss fraud patterns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verification beyond the statutory window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 learning integration or explainability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provider-level monitoring or automated sanctions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privacy risk — no formal governance framework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 —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Solution, Objectives &amp;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8235"/>
            </a:avLst>
          </a:prstGeom>
          <a:solidFill>
            <a:srgbClr val="142850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 To design, implement, and evaluate a machine learning pipeline for automated health insurance claims verification within Kenya’s SHA.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79576" y="2423160"/>
            <a:ext cx="640080" cy="64008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187" y="25127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2004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Pre-Verification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2423160"/>
            <a:ext cx="640080" cy="64008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323" y="251277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88336" y="32004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Anomaly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41848" y="2423160"/>
            <a:ext cx="640080" cy="64008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459" y="251277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19472" y="32004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872984" y="2423160"/>
            <a:ext cx="640080" cy="64008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595" y="2512771"/>
            <a:ext cx="460858" cy="4608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50608" y="32004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Review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10104120" y="2423160"/>
            <a:ext cx="640080" cy="64008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31" y="2512771"/>
            <a:ext cx="460858" cy="46085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381744" y="320040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Provider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57200" y="4251960"/>
            <a:ext cx="112471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731520" y="4389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731520" y="4718304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optimised XGBoost model, 17-feature engineering, SHAP explainability, SMOTE + cross-validation, automated provider suspension, 4-role prototype with reporting.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EMR systems, multi-algorithm comparison, live SHA production integration, patient-facing apps.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Development Research (DDR)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3832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5623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441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Phase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data collection, current-system review, requirements gaps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3977640" y="2638044"/>
            <a:ext cx="256032" cy="256032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691640"/>
            <a:ext cx="33832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85623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2441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Development Phase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feature engineering, XGBoost training, prototype build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7863840" y="2638044"/>
            <a:ext cx="256032" cy="256032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1691640"/>
            <a:ext cx="338328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58200" y="185623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58200" y="24414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Phase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testing, functional testing, user acceptance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sprint-based delivery over a four-month schedule, aligned to the minimum six supervision sessions required by the School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qualitative stakeholder interviews with quantitative ML 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— 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0472" y="1673352"/>
            <a:ext cx="585216" cy="585216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402" y="1755282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50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642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4 roles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 rot="5400000">
            <a:off x="3136392" y="2176272"/>
            <a:ext cx="146304" cy="219456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3310128" y="15087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673352"/>
            <a:ext cx="585216" cy="585216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330" y="1755282"/>
            <a:ext cx="421356" cy="4213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350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01568" y="2642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JWT, RBAC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 rot="5400000">
            <a:off x="5989320" y="2176272"/>
            <a:ext cx="146304" cy="219456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16" name="Shape 12"/>
          <p:cNvSpPr/>
          <p:nvPr/>
        </p:nvSpPr>
        <p:spPr>
          <a:xfrm>
            <a:off x="6163056" y="15087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6328" y="1673352"/>
            <a:ext cx="585216" cy="58521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58" y="1755282"/>
            <a:ext cx="421356" cy="4213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63056" y="2350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54496" y="2642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SHAP, suspension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 rot="5400000">
            <a:off x="8842248" y="2176272"/>
            <a:ext cx="146304" cy="219456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22" name="Shape 17"/>
          <p:cNvSpPr/>
          <p:nvPr/>
        </p:nvSpPr>
        <p:spPr>
          <a:xfrm>
            <a:off x="9015984" y="15087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49256" y="1673352"/>
            <a:ext cx="585216" cy="585216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186" y="1755282"/>
            <a:ext cx="421356" cy="4213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15984" y="2350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07424" y="2642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15, audit log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57200" y="3337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SEVEN-TABLE SCHEMA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57200" y="3703320"/>
            <a:ext cx="766267" cy="457200"/>
          </a:xfrm>
          <a:prstGeom prst="roundRect">
            <a:avLst>
              <a:gd name="adj" fmla="val 50000"/>
            </a:avLst>
          </a:prstGeom>
          <a:solidFill>
            <a:srgbClr val="E3F0EF"/>
          </a:solidFill>
          <a:ln/>
        </p:spPr>
      </p:sp>
      <p:sp>
        <p:nvSpPr>
          <p:cNvPr id="29" name="Text 23"/>
          <p:cNvSpPr/>
          <p:nvPr/>
        </p:nvSpPr>
        <p:spPr>
          <a:xfrm>
            <a:off x="457200" y="3703320"/>
            <a:ext cx="766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388059" y="3703320"/>
            <a:ext cx="1191463" cy="457200"/>
          </a:xfrm>
          <a:prstGeom prst="roundRect">
            <a:avLst>
              <a:gd name="adj" fmla="val 50000"/>
            </a:avLst>
          </a:prstGeom>
          <a:solidFill>
            <a:srgbClr val="E3F0EF"/>
          </a:solidFill>
          <a:ln/>
        </p:spPr>
      </p:sp>
      <p:sp>
        <p:nvSpPr>
          <p:cNvPr id="31" name="Text 25"/>
          <p:cNvSpPr/>
          <p:nvPr/>
        </p:nvSpPr>
        <p:spPr>
          <a:xfrm>
            <a:off x="1388059" y="3703320"/>
            <a:ext cx="1191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sha_members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44114" y="3703320"/>
            <a:ext cx="1616659" cy="457200"/>
          </a:xfrm>
          <a:prstGeom prst="roundRect">
            <a:avLst>
              <a:gd name="adj" fmla="val 50000"/>
            </a:avLst>
          </a:prstGeom>
          <a:solidFill>
            <a:srgbClr val="E3F0EF"/>
          </a:solidFill>
          <a:ln/>
        </p:spPr>
      </p:sp>
      <p:sp>
        <p:nvSpPr>
          <p:cNvPr id="33" name="Text 27"/>
          <p:cNvSpPr/>
          <p:nvPr/>
        </p:nvSpPr>
        <p:spPr>
          <a:xfrm>
            <a:off x="2744114" y="3703320"/>
            <a:ext cx="1616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health_providers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525366" y="3703320"/>
            <a:ext cx="1956816" cy="457200"/>
          </a:xfrm>
          <a:prstGeom prst="roundRect">
            <a:avLst>
              <a:gd name="adj" fmla="val 50000"/>
            </a:avLst>
          </a:prstGeom>
          <a:solidFill>
            <a:srgbClr val="E3F0EF"/>
          </a:solidFill>
          <a:ln/>
        </p:spPr>
      </p:sp>
      <p:sp>
        <p:nvSpPr>
          <p:cNvPr id="35" name="Text 29"/>
          <p:cNvSpPr/>
          <p:nvPr/>
        </p:nvSpPr>
        <p:spPr>
          <a:xfrm>
            <a:off x="4525366" y="37033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verification_results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646774" y="3703320"/>
            <a:ext cx="1191463" cy="457200"/>
          </a:xfrm>
          <a:prstGeom prst="roundRect">
            <a:avLst>
              <a:gd name="adj" fmla="val 50000"/>
            </a:avLst>
          </a:prstGeom>
          <a:solidFill>
            <a:srgbClr val="E3F0EF"/>
          </a:solidFill>
          <a:ln/>
        </p:spPr>
      </p:sp>
      <p:sp>
        <p:nvSpPr>
          <p:cNvPr id="37" name="Text 31"/>
          <p:cNvSpPr/>
          <p:nvPr/>
        </p:nvSpPr>
        <p:spPr>
          <a:xfrm>
            <a:off x="6646774" y="3703320"/>
            <a:ext cx="1191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sha_tariffs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002829" y="3703320"/>
            <a:ext cx="1021385" cy="457200"/>
          </a:xfrm>
          <a:prstGeom prst="roundRect">
            <a:avLst>
              <a:gd name="adj" fmla="val 50000"/>
            </a:avLst>
          </a:prstGeom>
          <a:solidFill>
            <a:srgbClr val="E3F0EF"/>
          </a:solidFill>
          <a:ln/>
        </p:spPr>
      </p:sp>
      <p:sp>
        <p:nvSpPr>
          <p:cNvPr id="39" name="Text 33"/>
          <p:cNvSpPr/>
          <p:nvPr/>
        </p:nvSpPr>
        <p:spPr>
          <a:xfrm>
            <a:off x="8002829" y="3703320"/>
            <a:ext cx="10213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9188806" y="3703320"/>
            <a:ext cx="1276502" cy="457200"/>
          </a:xfrm>
          <a:prstGeom prst="roundRect">
            <a:avLst>
              <a:gd name="adj" fmla="val 50000"/>
            </a:avLst>
          </a:prstGeom>
          <a:solidFill>
            <a:srgbClr val="E3F0EF"/>
          </a:solidFill>
          <a:ln/>
        </p:spPr>
      </p:sp>
      <p:sp>
        <p:nvSpPr>
          <p:cNvPr id="41" name="Text 35"/>
          <p:cNvSpPr/>
          <p:nvPr/>
        </p:nvSpPr>
        <p:spPr>
          <a:xfrm>
            <a:off x="9188806" y="3703320"/>
            <a:ext cx="1276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system_users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columns compute amount ratio &amp; submission delay at insert time; the audit log is append-only at the database privilege level.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17-Feature Vector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28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Behaviour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756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amount_ratio, claimed_amount_log, tariff_amount_log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728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History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0756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provider_claim_freq_30d, provider_amount_zscore, provider_approval_rate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099816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27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Patterns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57530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patient_facility_count_7d, patient_claim_count_90d, repeat_diagnosis_flag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099816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32278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Consistency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57530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diagnosis_procedure_match, diagnosis_category_encoded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7368"/>
            </a:avLst>
          </a:prstGeom>
          <a:solidFill>
            <a:srgbClr val="142850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8920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via an Agile-iterative process nested in CRISP-DM: domain-driven candidates → XGBoost importance review → SHAP consistency check — frozen before the held-out test split.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 — XGBoost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77240" cy="77724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14" y="180045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91640"/>
            <a:ext cx="10195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deeply optimised XGBoost classifier — no multi-algorithm comparison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to the training set only, never validation or test data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via grid search: eta, max_depth, n_estimators, α / λ regularisation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 for robust, generalised performance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/ 15% / 15% train / validation / test split — test set held out until final evaluation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tracking and joblib-versioned model artefacts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Explainability &amp; Provider Suspension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30" y="18141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computes exact Shapley values for tree ensembles in polynomial time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claim stores its full SHAP vector plus a ranked top-5 features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render in plain language, not raw feature codes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4343400"/>
            <a:ext cx="4846320" cy="1280160"/>
          </a:xfrm>
          <a:prstGeom prst="roundRect">
            <a:avLst>
              <a:gd name="adj" fmla="val 5000"/>
            </a:avLst>
          </a:prstGeom>
          <a:solidFill>
            <a:srgbClr val="E3F0EF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4531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“Claimed amount is 4.2× the SHA tariff”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4892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“amount_ratio = +0.31”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26480" y="1508760"/>
            <a:ext cx="557784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610" y="181417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SUSPENSION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0" y="24231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30-day window counts each provider’s flagged claims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flags within the window triggers automatic suspension, logged under a dedicated system identity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Reinstatement is administrator-only, requiring a documented reason (≥10 characters); risk tier stays elevated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0" y="489204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E3F0EF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0" y="4892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 rot="5400000">
            <a:off x="7872984" y="5061204"/>
            <a:ext cx="164592" cy="164592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20" name="Shape 16"/>
          <p:cNvSpPr/>
          <p:nvPr/>
        </p:nvSpPr>
        <p:spPr>
          <a:xfrm>
            <a:off x="8138160" y="489204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4E9C9"/>
          </a:solidFill>
          <a:ln/>
        </p:spPr>
      </p:sp>
      <p:sp>
        <p:nvSpPr>
          <p:cNvPr id="21" name="Text 17"/>
          <p:cNvSpPr/>
          <p:nvPr/>
        </p:nvSpPr>
        <p:spPr>
          <a:xfrm>
            <a:off x="8138160" y="4892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 rot="5400000">
            <a:off x="9610344" y="5061204"/>
            <a:ext cx="164592" cy="164592"/>
          </a:xfrm>
          <a:prstGeom prst="triangle">
            <a:avLst/>
          </a:prstGeom>
          <a:solidFill>
            <a:srgbClr val="C9A227"/>
          </a:solidFill>
          <a:ln/>
        </p:spPr>
      </p:sp>
      <p:sp>
        <p:nvSpPr>
          <p:cNvPr id="23" name="Shape 19"/>
          <p:cNvSpPr/>
          <p:nvPr/>
        </p:nvSpPr>
        <p:spPr>
          <a:xfrm>
            <a:off x="9875520" y="489204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E3F0EF"/>
          </a:solidFill>
          <a:ln/>
        </p:spPr>
      </p:sp>
      <p:sp>
        <p:nvSpPr>
          <p:cNvPr id="24" name="Text 20"/>
          <p:cNvSpPr/>
          <p:nvPr/>
        </p:nvSpPr>
        <p:spPr>
          <a:xfrm>
            <a:off x="9875520" y="4892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400800" y="5504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flags / 30 days → admin reinstates + documented reason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&amp; SIX — DESIGN /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Implementation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48640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Permissions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claims, view own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flagged queue, decide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CRUD, configure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payments,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77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1.2+, bcrypt hashing, JWT Bearer auth, AES-256 at rest, and an append-only audit log secure every layer.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890" y="163129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0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STACK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55080" y="2286000"/>
            <a:ext cx="5349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FastAPI 0.110, SQLAlchemy 2.0, PostgreSQL 15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routers: auth, claims, review, admin, reporting, suspension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frontend; MLflow model versioning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— incremental commits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55080" y="443484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E3F0EF"/>
          </a:solidFill>
          <a:ln/>
        </p:spPr>
      </p:sp>
      <p:sp>
        <p:nvSpPr>
          <p:cNvPr id="11" name="Text 7"/>
          <p:cNvSpPr/>
          <p:nvPr/>
        </p:nvSpPr>
        <p:spPr>
          <a:xfrm>
            <a:off x="6583680" y="44348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7360920" y="4434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identified &amp; resolved during progressive development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Development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—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Model 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5087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5087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77640" y="1508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scenarios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5087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15087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1508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FRs validated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2423160"/>
          <a:ext cx="112471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&amp; EIGHT — TESTING /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Acceptance &amp; Achievement of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4297680"/>
          </a:xfrm>
          <a:prstGeom prst="roundRect">
            <a:avLst>
              <a:gd name="adj" fmla="val 1795"/>
            </a:avLst>
          </a:prstGeom>
          <a:solidFill>
            <a:srgbClr val="142850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48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&gt;70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SUS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clarity praised by officers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warning valued by providers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safeguards endorsed by admins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" cy="347472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2046" y="1648846"/>
            <a:ext cx="250180" cy="2501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28032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current SHA processes &amp; gaps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2167128"/>
            <a:ext cx="347472" cy="347472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046" y="2215774"/>
            <a:ext cx="250180" cy="250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28032" y="21214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17-feature pipeline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343400" y="2734056"/>
            <a:ext cx="347472" cy="347472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046" y="2782702"/>
            <a:ext cx="250180" cy="2501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28032" y="2688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trained XGBoost + SMOTE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343400" y="3300984"/>
            <a:ext cx="347472" cy="347472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46" y="3349630"/>
            <a:ext cx="250180" cy="2501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28032" y="32552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SHAP explainability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43400" y="3867912"/>
            <a:ext cx="347472" cy="347472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46" y="3916558"/>
            <a:ext cx="250180" cy="2501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28032" y="38221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functional end-to-end prototype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343400" y="4434840"/>
            <a:ext cx="347472" cy="347472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2046" y="4483486"/>
            <a:ext cx="250180" cy="2501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28032" y="4389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performance against a baseline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4343400" y="5001768"/>
            <a:ext cx="347472" cy="347472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2046" y="5050414"/>
            <a:ext cx="250180" cy="2501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828032" y="4956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ethical considerations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Conclusion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EIGHT —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85216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Contributions, Limitations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reference implementation on a realistic SHA schema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provider suspension mechanism — absent from reviewed literature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44068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B055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7556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691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00800" y="2286000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data, not live SHA operational data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threshold set conservatively, not from loss data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794760"/>
            <a:ext cx="544068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0B7A7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416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977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85800" y="4572000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historical data under a formal data-sharing agreement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audit log &amp; comment discipline as institutional policy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44068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3A4A6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977640"/>
            <a:ext cx="457200" cy="457200"/>
          </a:xfrm>
          <a:prstGeom prst="ellipse">
            <a:avLst/>
          </a:prstGeom>
          <a:solidFill>
            <a:srgbClr val="9A7B1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40416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977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0" y="4572000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alongside the model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Concept-drift monitoring &amp; a formal fairness study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737360"/>
            <a:ext cx="4572000" cy="4572000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852160"/>
            <a:ext cx="3931920" cy="3931920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" y="8988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777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an explainable, human-supervised machine learning pipeline for claims verification is technically feasible, operationally acceptable, and implementable within the resources of a final-year project when scope is disciplined.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proved decisive was not any single component but their integration: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023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24406B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40233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pre-checks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035808" y="4023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24406B"/>
          </a:solidFill>
          <a:ln/>
        </p:spPr>
      </p:sp>
      <p:sp>
        <p:nvSpPr>
          <p:cNvPr id="12" name="Text 9"/>
          <p:cNvSpPr/>
          <p:nvPr/>
        </p:nvSpPr>
        <p:spPr>
          <a:xfrm>
            <a:off x="3145536" y="40233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optimised XGBoost model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248656" y="4023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24406B"/>
          </a:solidFill>
          <a:ln/>
        </p:spPr>
      </p:sp>
      <p:sp>
        <p:nvSpPr>
          <p:cNvPr id="14" name="Text 11"/>
          <p:cNvSpPr/>
          <p:nvPr/>
        </p:nvSpPr>
        <p:spPr>
          <a:xfrm>
            <a:off x="5358384" y="40233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 officers can act on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461504" y="4023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24406B"/>
          </a:solidFill>
          <a:ln/>
        </p:spPr>
      </p:sp>
      <p:sp>
        <p:nvSpPr>
          <p:cNvPr id="16" name="Text 13"/>
          <p:cNvSpPr/>
          <p:nvPr/>
        </p:nvSpPr>
        <p:spPr>
          <a:xfrm>
            <a:off x="7571232" y="40233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9674352" y="402336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24406B"/>
          </a:solidFill>
          <a:ln/>
        </p:spPr>
      </p:sp>
      <p:sp>
        <p:nvSpPr>
          <p:cNvPr id="18" name="Text 15"/>
          <p:cNvSpPr/>
          <p:nvPr/>
        </p:nvSpPr>
        <p:spPr>
          <a:xfrm>
            <a:off x="9784080" y="40233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Conservative, reversible provider suspension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029200" cy="5029200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206240" cy="4206240"/>
          </a:xfrm>
          <a:prstGeom prst="ellipse">
            <a:avLst/>
          </a:prstGeom>
          <a:solidFill>
            <a:srgbClr val="24406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Elvis Paul Sichemo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BIT/2019/42945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Bernard Chogi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5743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 Claims Verification ML Pipeline — Project Defense</dc:title>
  <dc:subject>PptxGenJS Presentation</dc:subject>
  <dc:creator>Elvis Paul Sichemo</dc:creator>
  <cp:lastModifiedBy>Elvis Paul Sichemo</cp:lastModifiedBy>
  <cp:revision>1</cp:revision>
  <dcterms:created xsi:type="dcterms:W3CDTF">2026-08-06T13:58:39Z</dcterms:created>
  <dcterms:modified xsi:type="dcterms:W3CDTF">2026-08-06T13:58:39Z</dcterms:modified>
</cp:coreProperties>
</file>